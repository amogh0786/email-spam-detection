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Introduce yourself, project title, and institution. Emphasize that this is an end-to-end reproducible machine learning system with real-time web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Question: Why not keyword filtering? Answer: Static rules fail against intentional misspellings and zero-width characters. ML extracts generalizable probabilistic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Viva Question: Why is precision key? Precision = TP / (TP + FP). Maximizing Precision drives False Positives toward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objectives to orient the examination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leak-free design: TF-IDF statistics are calculated strictly on the training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why plain accuracy is misleading and precision/recall curves are essential.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why Multinomial Naive Bayes is chosen: highest precision (99.26%) minimizing false positives to 1 single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confusion matrix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presentation gracefully and invite questions from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Intelligent Email Spam Detection Using Machine Learning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Department of Computer Science &amp; Engineering (AI &amp; ML)</a:t>
            </a:r>
            <a:br/>
            <a:r>
              <a:t>Sreyas Institute of Engineering and Technology, Hyderabad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B.Tech Micro Project Defense | Academic Year 2025–2026</a:t>
            </a:r>
          </a:p>
          <a:p>
            <a:pPr>
              <a:spcAft>
                <a:spcPts val="1200"/>
              </a:spcAft>
              <a:defRPr sz="1600" b="1">
                <a:solidFill>
                  <a:srgbClr val="003366"/>
                </a:solidFill>
              </a:defRPr>
            </a:pPr>
            <a:r>
              <a:t>Presenters: GANTA BALA AMOGH RAJ (24VE1A6681) &amp; DOMA AJAY (24VE1A6677)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Faculty Supervisor: Department of CSE (AI &amp; ML)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Problem Statement &amp; Cybersecurity Challenges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The Escalating Threat of Unsolicited Bulk Email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Over 340 billion emails sent daily; ~50% represent unsolicited spam.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Spam acts as delivery vectors for ransomware, phishing, and identity theft.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Traditional rule/keyword heuristics fail against obfuscated spelling &amp; Unicode injection.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Core Challenge: High-dimensional sparse text &amp; severe class imbalance.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Motivation &amp; Asymmetric Misclassification Costs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Why Precision Outweighs Accuracy in Spam Filtering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False Negative (Spam in Inbox): Minor user inconvenience.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False Positive (Legitimate in Spam): Catastrophic loss of job offers, medical alerts, or business invoices.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Goal: Enforce strict False Positive constraint (FPR &lt;= 0.15%) while maximizing Recall.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Project Objectives &amp; Technical Scope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Systematic Engineering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1. Acquire and audit the benchmark 5,572-message spam collection.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2. Develop an 8-stage text normalization and token masking pipeline.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3. Extract leak-free unigram &amp; bigram TF-IDF feature representations.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4. Benchmark 4 supervised ML algorithms (MNB, Linear SVC, LR, RF).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5. Build an interactive Streamlit GUI for real-time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Proposed System Architecture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End-to-End Pipeline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Layer 1: Ingestion &amp; Schema Validation (Ham vs. Spam).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Layer 2: Text Normalization (URL abstraction, currency tags, Porter stemming).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Layer 3: TF-IDF Vectorization (4,000 max features, sublinear scaling).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Layer 4: Supervised Classification Engine &amp; Probability Calibration.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Layer 5: Streamlit Web UI &amp; Inference REST Service.</a:t>
            </a:r>
          </a:p>
        </p:txBody>
      </p:sp>
      <p:pic>
        <p:nvPicPr>
          <p:cNvPr id="4" name="Picture 3" descr="fig5_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Dataset Provenance &amp; Class Imbalance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Benchmark Corpus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Total Record Count: 5,572 verified messages.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Legitimate (Ham): 4,825 instances (86.6%).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Spam (Unsolicited): 747 instances (13.4%).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Natural 6.46:1 class imbalance matches real-world enterprise traffic.</a:t>
            </a:r>
          </a:p>
        </p:txBody>
      </p:sp>
      <p:pic>
        <p:nvPicPr>
          <p:cNvPr id="4" name="Picture 3" descr="fig3_1_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Quantitative Benchmark Comparison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Empirical Performance on 1,115 Test Samples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Multinomial NB: 98.65% Accuracy | 99.26% Precision | 90.60% Recall | 94.74% F1 | AUC: 0.988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Linear SVC: 98.83% Accuracy | 98.57% Precision | 92.62% Recall | 95.50% F1 | AUC: 0.985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Logistic Regression: 97.40% Accuracy | 98.41% Precision | 81.88% Recall | 89.38% F1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Random Forest: 97.85% Accuracy | 100.0% Precision | 83.89% Recall | 91.24% F1</a:t>
            </a:r>
          </a:p>
        </p:txBody>
      </p:sp>
      <p:pic>
        <p:nvPicPr>
          <p:cNvPr id="4" name="Picture 3" descr="fig7_3_model_comparison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Confusion Matrix &amp; Error Breakdown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Microscopic Inspection of Test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Multinomial NB: 964 True Negatives, 1 False Positive, 14 False Negatives, 136 True Positives.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Sole False Positive: A promotional message containing financial terms misclassified as spam.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False Negatives (14 samples): Short conversational spam lacking typical offer keywords.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Zero Critical Personal or Academic Communications Compromised.</a:t>
            </a:r>
          </a:p>
        </p:txBody>
      </p:sp>
      <p:pic>
        <p:nvPicPr>
          <p:cNvPr id="4" name="Picture 3" descr="fig7_1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45720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Conclusion &amp; Future Research</a:t>
            </a:r>
          </a:p>
          <a:p>
            <a:pPr>
              <a:defRPr sz="1400" i="1">
                <a:solidFill>
                  <a:srgbClr val="646464"/>
                </a:solidFill>
              </a:defRPr>
            </a:pPr>
            <a:r>
              <a:t>Open for Viva Defense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Conclusion: Classical NLP + Multinomial Naive Bayes delivers state-of-the-art precision for low-latency email filtering.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Future Scope 1: Multimodal OCR to detect text embedded within image attachments.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Future Scope 2: Online continuous learning to adapt to evolving phishing campaigns.</a:t>
            </a:r>
          </a:p>
          <a:p>
            <a:pPr>
              <a:spcAft>
                <a:spcPts val="1200"/>
              </a:spcAft>
              <a:defRPr sz="1600">
                <a:solidFill>
                  <a:srgbClr val="222222"/>
                </a:solidFill>
              </a:defRPr>
            </a:pPr>
            <a:r>
              <a:t>• Future Scope 3: Lightweight DistilBERT integration for complex contextual reasoning.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